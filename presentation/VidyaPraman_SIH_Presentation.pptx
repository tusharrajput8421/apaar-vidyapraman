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59E0B"/>
                </a:solidFill>
              </a:defRPr>
            </a:pPr>
            <a:r>
              <a:t>SMART INDIA HACKATHON 2024</a:t>
            </a:r>
          </a:p>
          <a:p>
            <a:pPr>
              <a:spcAft>
                <a:spcPts val="800"/>
              </a:spcAft>
              <a:defRPr sz="4400" b="1">
                <a:solidFill>
                  <a:srgbClr val="FFFFFF"/>
                </a:solidFill>
              </a:defRPr>
            </a:pPr>
            <a:r>
              <a:t>VidyaPraman</a:t>
            </a:r>
          </a:p>
          <a:p>
            <a:pPr>
              <a:spcAft>
                <a:spcPts val="2400"/>
              </a:spcAft>
              <a:defRPr sz="2000">
                <a:solidFill>
                  <a:srgbClr val="DBEAFE"/>
                </a:solidFill>
              </a:defRPr>
            </a:pPr>
            <a:r>
              <a:t>APAAR ID-Based Student Data Management &amp; Verification Platform for AICTE-Approved Institutions</a:t>
            </a:r>
          </a:p>
          <a:p>
            <a:pPr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Problem Statement ID: 26263  |  Ministry: All India Council for Technical Education (AICTE)</a:t>
            </a:r>
          </a:p>
          <a:p>
            <a:pPr>
              <a:defRPr sz="1200">
                <a:solidFill>
                  <a:srgbClr val="BFDBFE"/>
                </a:solidFill>
              </a:defRPr>
            </a:pPr>
            <a:r>
              <a:t>Theme: Smart Education &amp; Regulatory Governance  |  NEP 2020 One Nation One Student ID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SMART INDIA HACKATHON 2024 | PROBLEM STATEMENT 26263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Current Gaps &amp; Challenges in AICTE Student Data Management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b="1" sz="1400">
                <a:solidFill>
                  <a:srgbClr val="1E3A8A"/>
                </a:solidFill>
              </a:defRPr>
            </a:pPr>
            <a:r>
              <a:t>1. Lack of Student-Level Records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Only standalone PGDM institutions currently submit detailed student data.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10,000+ technical institutions submit aggregate headcounts only during annual approval renewals.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Zero continuous visibility into actual enrolled students across semesters.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Difficult to verify whether admitted students exist physically.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b="1" sz="1400">
                <a:solidFill>
                  <a:srgbClr val="1E3A8A"/>
                </a:solidFill>
              </a:defRPr>
            </a:pPr>
            <a:r>
              <a:t>2. Quota &amp; Seat Cap Breaches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Unmonitored supernumerary admissions violating statutory ceilings.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NRI Quota capped at 5%, Foreign National (FN/PIO) capped at 15%, TFW at 5%.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Unscrupulous institutions admit excess students or misclassify seats for capitation fees.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No real-time intake enforcement engine currently in place.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b="1" sz="1400">
                <a:solidFill>
                  <a:srgbClr val="1E3A8A"/>
                </a:solidFill>
              </a:defRPr>
            </a:pPr>
            <a:r>
              <a:t>3. Concurrent Admissions &amp; Fraud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Candidates blocking seats in multiple states or institutions simultaneously.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Drawing multiple government scholarships (PMSSS, Post-Matric) concurrently.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Ghost students claimed falsely to satisfy Faculty-Student Ratio (FSR) norms.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Employers face weeks of delays verifying degree certificates manually.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SMART INDIA HACKATHON 2024 | PROBLEM STATEMENT 26263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The Solution: VidyaPraman AICTE-APAAR Ecosystem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b="1" sz="1400">
                <a:solidFill>
                  <a:srgbClr val="1E3A8A"/>
                </a:solidFill>
              </a:defRPr>
            </a:pPr>
            <a:r>
              <a:t>Unified APAAR-Anchored Architecture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One Nation, One Student ID (APAAR) serves as the immutable academic anchor under NEP 2020.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Dual Ingestion Pipeline: Standardized Bulk CSV/Excel batch upload + RESTful Webhook APIs for Campus ERPs (SAP, TCS iON, CollPoll).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Comprehensive Field Capture: Captures Regular Sanctioned Intake, Supernumerary (TFW, EWS, PMSSS), and International (NRI, OCI, FN, CIWG).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Central AICTE Repository: Single source of truth for technical education across all states and union territories.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b="1" sz="1400">
                <a:solidFill>
                  <a:srgbClr val="1E3A8A"/>
                </a:solidFill>
              </a:defRPr>
            </a:pPr>
            <a:r>
              <a:t>Core Value Proposition &amp; Capabilities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Automated Intake Enforcement: Rejects or flags admissions exceeding sanctioned capacity in real time.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Cross-Institutional Deduplication: Immediately detects concurrent full-time admissions across colleges.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Tamper-Proof Verification: Cryptographic HMAC-SHA256 Signed QR codes for instant offline/online credential verification.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Accreditation &amp; Governance Reporting: 1-Click generation of verified student datasets for NIRF, NBA, and NAAC.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SMART INDIA HACKATHON 2024 | PROBLEM STATEMENT 26263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Automated Validation &amp; APAAR Identity Verification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b="1" sz="1400">
                <a:solidFill>
                  <a:srgbClr val="1E3A8A"/>
                </a:solidFill>
              </a:defRPr>
            </a:pPr>
            <a:r>
              <a:t>Verhoeff Checksum Engine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Official 12-digit check digit algorithm based on the Dihedral Group D5.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Mathematically catches 100% of single-digit errors and 100% of transposition errors.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Instant client-side and server-side verification before ledger submission.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Rejects counterfeit or randomly fabricated student IDs immediately.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b="1" sz="1400">
                <a:solidFill>
                  <a:srgbClr val="1E3A8A"/>
                </a:solidFill>
              </a:defRPr>
            </a:pPr>
            <a:r>
              <a:t>DigiLocker &amp; ABC Integration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Simulated integration with Academic Bank of Credits (ABC) &amp; National Academic Depository (NAD).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Real-time cross-verification of student full name, DOB, and gender against central registry.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Detects identity theft, proxy admissions, and unauthorized APAAR hijacking.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Generates automated audit log flags upon name or demographic mismatches.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b="1" sz="1400">
                <a:solidFill>
                  <a:srgbClr val="1E3A8A"/>
                </a:solidFill>
              </a:defRPr>
            </a:pPr>
            <a:r>
              <a:t>Privacy-Preserving Vaults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Full compliance with the Digital Personal Data Protection (DPDP) Act 2023.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Zero storage of raw Aadhaar numbers; sensitive demographics de-identified.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HMAC tokenization prevents unauthorized external correlation.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Role-Based Access Control (RBAC) ensuring only authorized nodal officers access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SMART INDIA HACKATHON 2024 | PROBLEM STATEMENT 26263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Intelligent Anomaly Detection &amp; Fraud Prevention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b="1" sz="1400">
                <a:solidFill>
                  <a:srgbClr val="1E3A8A"/>
                </a:solidFill>
              </a:defRPr>
            </a:pPr>
            <a:r>
              <a:t>1. Intake Cap &amp; Quota Breach Detector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Calculates active admissions against Sanctioned Capacity + Statutory Quotas.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Flags excess admissions instantly: Regular &gt; Sanctioned, NRI &gt; 5%, FN &gt; 15%, TFW &gt; 5%.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Eliminates illegal over-admissions and fraudulent commercial seat hoarding.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023360"/>
            <a:ext cx="512064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b="1" sz="1400">
                <a:solidFill>
                  <a:srgbClr val="1E3A8A"/>
                </a:solidFill>
              </a:defRPr>
            </a:pPr>
            <a:r>
              <a:t>2. Cross-Institution Duplicate Enrolment Detector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Global indexing across all AICTE-approved institutions in India.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Instantly alerts AICTE Council if same APAAR is enrolled in 2 colleges concurrently.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Directly stops dual scholarship fraud and seat blocking syndicates.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b="1" sz="1400">
                <a:solidFill>
                  <a:srgbClr val="1E3A8A"/>
                </a:solidFill>
              </a:defRPr>
            </a:pPr>
            <a:r>
              <a:t>3. Data Inconsistency &amp; Heuristic Checker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Detects age discrepancies (e.g., student age &lt; 15 or &gt; 60 for regular UG engineering).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Flags duplicate phone/email clusters indicating agent or paper enrolments.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Mismatches between state counseling allotment lists and uploaded records.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023360"/>
            <a:ext cx="512064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b="1" sz="1400">
                <a:solidFill>
                  <a:srgbClr val="1E3A8A"/>
                </a:solidFill>
              </a:defRPr>
            </a:pPr>
            <a:r>
              <a:t>4. Autonomous Regulatory Workflow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Categorizes violations by severity: CRITICAL, HIGH, MEDIUM.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Council officers can review violation details and issue instant notices or explanations.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Immutable resolution notes recorded in compliance audit trails.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SMART INDIA HACKATHON 2024 | PROBLEM STATEMENT 26263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Verifiable Credentials &amp; Degree Printing Support (Req. 10)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b="1" sz="1400">
                <a:solidFill>
                  <a:srgbClr val="1E3A8A"/>
                </a:solidFill>
              </a:defRPr>
            </a:pPr>
            <a:r>
              <a:t>Degree Printing &amp; Display Support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Mandatory embedding of APAAR ID + Institutional Student ID on degrees &amp; transcripts.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Standardized high-security credential template adhering to degree-awarding body guidelines.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Includes AICTE watermark, institution registration codes, course, batch, and status.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Enables universities and autonomous colleges to seamlessly print verifiable documents.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b="1" sz="1400">
                <a:solidFill>
                  <a:srgbClr val="1E3A8A"/>
                </a:solidFill>
              </a:defRPr>
            </a:pPr>
            <a:r>
              <a:t>Cryptographic Signed QR Verification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Every credential contains a high-density QR code backed by an HMAC-SHA256 digital signature.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Employers, background verification agencies, and embassies scan the QR code to verify instantly.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Displays authoritative status: 'AUTHENTIC &amp; ACTIVE - AICTE REPOSITORY'.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Zero-Knowledge privacy: Verifies student legitimacy without leaking sensitive phone or address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SMART INDIA HACKATHON 2024 | PROBLEM STATEMENT 26263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Dual Dashboards &amp; Data-Driven Governance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b="1" sz="1400">
                <a:solidFill>
                  <a:srgbClr val="1E3A8A"/>
                </a:solidFill>
              </a:defRPr>
            </a:pPr>
            <a:r>
              <a:t>AICTE National Command Dashboard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Real-time visibility into all 10,000+ approved institutions across Indian states.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State-wise intake vs enrolment heatmaps and capacity utilization tracking.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Live Anomaly Center with one-click audit actions, notice triggers, and explanation workflows.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Accreditation Data Pipeline: Instant export of verified data for NIRF, NBA, and NAAC.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b="1" sz="1400">
                <a:solidFill>
                  <a:srgbClr val="1E3A8A"/>
                </a:solidFill>
              </a:defRPr>
            </a:pPr>
            <a:r>
              <a:t>Institution Nodal Officer Portal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Interactive live seat matrix gauges showing regular and supernumerary quotas in real time.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Bulk Ingestion Center: Drag-and-drop CSV upload with instant row-by-row validation feedback.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Direct Student Registration Form with real-time Verhoeff check-digit verification.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Student Identity &amp; Certificate Card viewer with one-click print and PDF generation.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SMART INDIA HACKATHON 2024 | PROBLEM STATEMENT 26263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Technology Stack &amp; Enterprise Security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b="1" sz="1400">
                <a:solidFill>
                  <a:srgbClr val="1E3A8A"/>
                </a:solidFill>
              </a:defRPr>
            </a:pPr>
            <a:r>
              <a:t>Backend &amp; API Layer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Python (FastAPI): Ultra-fast asynchronous RESTful microservices.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Pydantic: Strict schema validation and type-safe data modeling.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Uvicorn: ASGI high-concurrency web server.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OpenAPI / Swagger: Standardized API documentation for institutional ERP integration.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b="1" sz="1400">
                <a:solidFill>
                  <a:srgbClr val="1E3A8A"/>
                </a:solidFill>
              </a:defRPr>
            </a:pPr>
            <a:r>
              <a:t>Persistence &amp; Crypto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Relational Ledger: SQLite (prototype) / PostgreSQL with JSONB (production).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Cryptography Engine: Python hashlib, hmac (SHA-256), and qrcode library.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Report Generation: reportlab (PDF generation) and xlsxwriter (NIRF compliance).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Verhoeff Dihedral Group Algorithm for 100% check-digit accuracy.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b="1" sz="1400">
                <a:solidFill>
                  <a:srgbClr val="1E3A8A"/>
                </a:solidFill>
              </a:defRPr>
            </a:pPr>
            <a:r>
              <a:t>Frontend &amp; Security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Frontend: Responsive Single Page Application (TailwindCSS, Chart.js, Lucide Icons).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Security: Role-Based Access Control (RBAC), JWT Authentication, TLS encryption.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DPDP Act 2023: De-identification, consent management, immutable audit logs.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Zero external build dependencies for maximum reliability.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SMART INDIA HACKATHON 2024 | PROBLEM STATEMENT 26263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National Impact &amp; Regulatory Feasibility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b="1" sz="1400">
                <a:solidFill>
                  <a:srgbClr val="1E3A8A"/>
                </a:solidFill>
              </a:defRPr>
            </a:pPr>
            <a:r>
              <a:t>Institutional Impact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Eliminates redundant manual paperwork during annual AICTE approvals.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Seamless integration with existing college ERPs (SAP, TCS iON, CollPoll).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Transparent seat matrix prevents accidental over-intake penalties.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Automated NIRF/NBA accreditation data compilation.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b="1" sz="1400">
                <a:solidFill>
                  <a:srgbClr val="1E3A8A"/>
                </a:solidFill>
              </a:defRPr>
            </a:pPr>
            <a:r>
              <a:t>Regulatory Governance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AICTE gains 100% authentic student-level records across all approved institutions.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Complete elimination of ghost students and seat-blocking syndicates.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Prevents leakage of government scholarships and public subsidies.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Data-driven policy formulation for technical education expansion.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b="1" sz="1400">
                <a:solidFill>
                  <a:srgbClr val="1E3A8A"/>
                </a:solidFill>
              </a:defRPr>
            </a:pPr>
            <a:r>
              <a:t>Student &amp; Employer Value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Permanent, portable academic identity linked to National Academic Depository (NAD).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Instant background verification for employers, multinational recruiters, and embassies.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Zero risk of fraudulent degree claims or fake certificate rackets.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Complete data privacy protection under DPDP Act 2023.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SMART INDIA HACKATHON 2024 | PROBLEM STATEMENT 26263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Implementation Roadmap &amp; Future Vision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b="1" sz="1400">
                <a:solidFill>
                  <a:srgbClr val="1E3A8A"/>
                </a:solidFill>
              </a:defRPr>
            </a:pPr>
            <a:r>
              <a:t>Phase 1: Hackathon MVP (Current)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Complete full-stack working platform with AICTE dashboard &amp; college portal.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Verhoeff APAAR validation &amp; mock DigiLocker/ABC registry.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Intake cap enforcement &amp; cross-college duplicate detector.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Signed QR verifiable certificate generation.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b="1" sz="1400">
                <a:solidFill>
                  <a:srgbClr val="1E3A8A"/>
                </a:solidFill>
              </a:defRPr>
            </a:pPr>
            <a:r>
              <a:t>Phase 2: State Counseling Sync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API integration with State CET / JEE / CAT counseling authorities.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Automated reconciliation between allotment lists and actual institutional admissions.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Integration with National Scholarship Portal (NSP) to prevent duplicate disbursements.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Pilot testing across 100 benchmark engineering &amp; management colleges.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b="1" sz="1400">
                <a:solidFill>
                  <a:srgbClr val="1E3A8A"/>
                </a:solidFill>
              </a:defRPr>
            </a:pPr>
            <a:r>
              <a:t>Phase 3: National Rollout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Full deployment across all 10,000+ AICTE-approved institutions nationwide.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Mobile app for student consent management &amp; credential wallet.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Blockchain-anchored verifiable credentials (W3C standard).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Complete alignment with NEP 2020 National Education Technology Forum (NETF).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SMART INDIA HACKATHON 2024 | PROBLEM STATEMENT 26263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VidyaPraman: Live Working Prototype Demonstration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b="1" sz="1400">
                <a:solidFill>
                  <a:srgbClr val="1E3A8A"/>
                </a:solidFill>
              </a:defRPr>
            </a:pPr>
            <a:r>
              <a:t>Live Working Prototype Features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Live Server Running: http://localhost:8000 with real-time reactive UI.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Interactive Demo Scenarios: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  • Authentic Student Verification: APAAR 987654321012 (DTU CSE)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  • Double Enrolment Detection: APAAR 918273645018 (COEP &amp; BMSCE)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  • Quota Violation Flag: NRI Quota overflow in BMSCE AI/ML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  • Checksum Verification: Rejection of invalid APAAR IDs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Bulk CSV Upload: Drag-and-drop processing with live anomaly detection.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Official Credential Printing: Verifiable certificate with signed QR code.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b="1" sz="1400">
                <a:solidFill>
                  <a:srgbClr val="1E3A8A"/>
                </a:solidFill>
              </a:defRPr>
            </a:pPr>
            <a:r>
              <a:t>Key Takeaways for AICTE Jury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Solves All 10 Key Requirements of SIH Problem Statement 26263.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Goes beyond data collection: Delivers autonomous fraud detection, quota enforcers, and instant verification.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Production-Ready Architecture: Clean, modular, standards-compliant, and scalable to millions of students.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Transforms Indian Technical Education into an authentic, verifiable, and transparent national academic ecosystem.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